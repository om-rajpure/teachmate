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6D93C0-102B-437E-A785-F4CE1CD36217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7F6BD5-62C3-4F63-BD9F-DA3C4C156F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3019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F6BD5-62C3-4F63-BD9F-DA3C4C156F8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053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AE795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rgbClr val="22384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AE795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rgbClr val="22384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AE795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AE795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238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581400" y="1552575"/>
            <a:ext cx="5562600" cy="3590925"/>
          </a:xfrm>
          <a:custGeom>
            <a:avLst/>
            <a:gdLst/>
            <a:ahLst/>
            <a:cxnLst/>
            <a:rect l="l" t="t" r="r" b="b"/>
            <a:pathLst>
              <a:path w="5562600" h="3590925">
                <a:moveTo>
                  <a:pt x="5562599" y="3590923"/>
                </a:moveTo>
                <a:lnTo>
                  <a:pt x="0" y="3590923"/>
                </a:lnTo>
                <a:lnTo>
                  <a:pt x="5562599" y="0"/>
                </a:lnTo>
                <a:lnTo>
                  <a:pt x="5562599" y="3590923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2828925"/>
            <a:ext cx="7372350" cy="2314575"/>
          </a:xfrm>
          <a:custGeom>
            <a:avLst/>
            <a:gdLst/>
            <a:ahLst/>
            <a:cxnLst/>
            <a:rect l="l" t="t" r="r" b="b"/>
            <a:pathLst>
              <a:path w="7372350" h="2314575">
                <a:moveTo>
                  <a:pt x="7372349" y="2314574"/>
                </a:moveTo>
                <a:lnTo>
                  <a:pt x="0" y="2314574"/>
                </a:lnTo>
                <a:lnTo>
                  <a:pt x="0" y="0"/>
                </a:lnTo>
                <a:lnTo>
                  <a:pt x="7372349" y="2314574"/>
                </a:lnTo>
                <a:close/>
              </a:path>
            </a:pathLst>
          </a:custGeom>
          <a:solidFill>
            <a:srgbClr val="C4A05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3999" cy="5143498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200025" y="209550"/>
            <a:ext cx="8743950" cy="4724400"/>
          </a:xfrm>
          <a:custGeom>
            <a:avLst/>
            <a:gdLst/>
            <a:ahLst/>
            <a:cxnLst/>
            <a:rect l="l" t="t" r="r" b="b"/>
            <a:pathLst>
              <a:path w="8743950" h="4724400">
                <a:moveTo>
                  <a:pt x="8743949" y="4724399"/>
                </a:moveTo>
                <a:lnTo>
                  <a:pt x="0" y="4724399"/>
                </a:lnTo>
                <a:lnTo>
                  <a:pt x="0" y="0"/>
                </a:lnTo>
                <a:lnTo>
                  <a:pt x="8743949" y="0"/>
                </a:lnTo>
                <a:lnTo>
                  <a:pt x="8743949" y="47243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9399" y="264159"/>
            <a:ext cx="8265200" cy="7956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AE795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2527" y="1023885"/>
            <a:ext cx="8075930" cy="1587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rgbClr val="22384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9631" y="264159"/>
            <a:ext cx="6617334" cy="662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" algn="ctr">
              <a:lnSpc>
                <a:spcPts val="2150"/>
              </a:lnSpc>
              <a:spcBef>
                <a:spcPts val="100"/>
              </a:spcBef>
            </a:pPr>
            <a:r>
              <a:rPr sz="1800" b="0" spc="-10" dirty="0">
                <a:solidFill>
                  <a:srgbClr val="1F497D"/>
                </a:solidFill>
                <a:latin typeface="Times New Roman"/>
                <a:cs typeface="Times New Roman"/>
              </a:rPr>
              <a:t>Nagar</a:t>
            </a:r>
            <a:r>
              <a:rPr sz="1800" b="0" spc="-95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800" b="0" spc="-30" dirty="0">
                <a:solidFill>
                  <a:srgbClr val="1F497D"/>
                </a:solidFill>
                <a:latin typeface="Times New Roman"/>
                <a:cs typeface="Times New Roman"/>
              </a:rPr>
              <a:t>Yuwak</a:t>
            </a:r>
            <a:r>
              <a:rPr sz="1800" b="0" spc="-25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800" b="0" dirty="0">
                <a:solidFill>
                  <a:srgbClr val="1F497D"/>
                </a:solidFill>
                <a:latin typeface="Times New Roman"/>
                <a:cs typeface="Times New Roman"/>
              </a:rPr>
              <a:t>Shikshan</a:t>
            </a:r>
            <a:r>
              <a:rPr sz="1800" b="0" spc="-25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800" b="0" spc="-10" dirty="0">
                <a:solidFill>
                  <a:srgbClr val="1F497D"/>
                </a:solidFill>
                <a:latin typeface="Times New Roman"/>
                <a:cs typeface="Times New Roman"/>
              </a:rPr>
              <a:t>Sanstha’s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ts val="2870"/>
              </a:lnSpc>
            </a:pPr>
            <a:r>
              <a:rPr sz="2400" spc="-90" dirty="0">
                <a:solidFill>
                  <a:srgbClr val="1F497D"/>
                </a:solidFill>
              </a:rPr>
              <a:t>DATTA</a:t>
            </a:r>
            <a:r>
              <a:rPr sz="2400" spc="-135" dirty="0">
                <a:solidFill>
                  <a:srgbClr val="1F497D"/>
                </a:solidFill>
              </a:rPr>
              <a:t> </a:t>
            </a:r>
            <a:r>
              <a:rPr sz="2400" dirty="0">
                <a:solidFill>
                  <a:srgbClr val="1F497D"/>
                </a:solidFill>
              </a:rPr>
              <a:t>MEGHE</a:t>
            </a:r>
            <a:r>
              <a:rPr sz="2400" spc="-20" dirty="0">
                <a:solidFill>
                  <a:srgbClr val="1F497D"/>
                </a:solidFill>
              </a:rPr>
              <a:t> </a:t>
            </a:r>
            <a:r>
              <a:rPr sz="2400" dirty="0">
                <a:solidFill>
                  <a:srgbClr val="1F497D"/>
                </a:solidFill>
              </a:rPr>
              <a:t>COLLEGE</a:t>
            </a:r>
            <a:r>
              <a:rPr sz="2400" spc="-15" dirty="0">
                <a:solidFill>
                  <a:srgbClr val="1F497D"/>
                </a:solidFill>
              </a:rPr>
              <a:t> </a:t>
            </a:r>
            <a:r>
              <a:rPr sz="2400" dirty="0">
                <a:solidFill>
                  <a:srgbClr val="1F497D"/>
                </a:solidFill>
              </a:rPr>
              <a:t>OF</a:t>
            </a:r>
            <a:r>
              <a:rPr sz="2400" spc="-100" dirty="0">
                <a:solidFill>
                  <a:srgbClr val="1F497D"/>
                </a:solidFill>
              </a:rPr>
              <a:t> </a:t>
            </a:r>
            <a:r>
              <a:rPr sz="2400" spc="-10" dirty="0">
                <a:solidFill>
                  <a:srgbClr val="1F497D"/>
                </a:solidFill>
              </a:rPr>
              <a:t>ENGINEERING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1663796" y="904240"/>
            <a:ext cx="5815965" cy="17517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1F497D"/>
                </a:solidFill>
                <a:latin typeface="Times New Roman"/>
                <a:cs typeface="Times New Roman"/>
              </a:rPr>
              <a:t>Airoli,</a:t>
            </a:r>
            <a:r>
              <a:rPr sz="1800" spc="-55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497D"/>
                </a:solidFill>
                <a:latin typeface="Times New Roman"/>
                <a:cs typeface="Times New Roman"/>
              </a:rPr>
              <a:t>Navi</a:t>
            </a:r>
            <a:r>
              <a:rPr sz="1800" spc="-55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1F497D"/>
                </a:solidFill>
                <a:latin typeface="Times New Roman"/>
                <a:cs typeface="Times New Roman"/>
              </a:rPr>
              <a:t>Mumbai</a:t>
            </a:r>
            <a:endParaRPr lang="en-US" sz="1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810"/>
              </a:spcBef>
            </a:pPr>
            <a:r>
              <a:rPr lang="en-US" sz="1400" b="1" spc="-30" dirty="0">
                <a:solidFill>
                  <a:srgbClr val="223844"/>
                </a:solidFill>
                <a:latin typeface="Times New Roman"/>
                <a:cs typeface="Times New Roman"/>
              </a:rPr>
              <a:t>DEPARTMENT</a:t>
            </a:r>
            <a:r>
              <a:rPr lang="en-US" sz="1400" b="1" dirty="0">
                <a:solidFill>
                  <a:srgbClr val="223844"/>
                </a:solidFill>
                <a:latin typeface="Times New Roman"/>
                <a:cs typeface="Times New Roman"/>
              </a:rPr>
              <a:t> </a:t>
            </a:r>
            <a:r>
              <a:rPr lang="en-US" sz="1400" b="1" spc="-10" dirty="0">
                <a:solidFill>
                  <a:srgbClr val="223844"/>
                </a:solidFill>
                <a:latin typeface="Times New Roman"/>
                <a:cs typeface="Times New Roman"/>
              </a:rPr>
              <a:t>OF</a:t>
            </a:r>
            <a:r>
              <a:rPr lang="en-US" sz="1400" b="1" spc="-110" dirty="0">
                <a:solidFill>
                  <a:srgbClr val="223844"/>
                </a:solidFill>
                <a:latin typeface="Times New Roman"/>
                <a:cs typeface="Times New Roman"/>
              </a:rPr>
              <a:t> </a:t>
            </a:r>
            <a:r>
              <a:rPr lang="en-US" sz="1400" b="1" spc="-25" dirty="0">
                <a:solidFill>
                  <a:srgbClr val="223844"/>
                </a:solidFill>
                <a:latin typeface="Times New Roman"/>
                <a:cs typeface="Times New Roman"/>
              </a:rPr>
              <a:t>ARTIFICIAL</a:t>
            </a:r>
            <a:r>
              <a:rPr lang="en-US" sz="1400" b="1" spc="-50" dirty="0">
                <a:solidFill>
                  <a:srgbClr val="223844"/>
                </a:solidFill>
                <a:latin typeface="Times New Roman"/>
                <a:cs typeface="Times New Roman"/>
              </a:rPr>
              <a:t> </a:t>
            </a:r>
            <a:r>
              <a:rPr lang="en-US" sz="1400" b="1" spc="-20" dirty="0">
                <a:solidFill>
                  <a:srgbClr val="223844"/>
                </a:solidFill>
                <a:latin typeface="Times New Roman"/>
                <a:cs typeface="Times New Roman"/>
              </a:rPr>
              <a:t>INTELLIGENCE</a:t>
            </a:r>
            <a:r>
              <a:rPr lang="en-US" sz="1400" b="1" spc="-55" dirty="0">
                <a:solidFill>
                  <a:srgbClr val="223844"/>
                </a:solidFill>
                <a:latin typeface="Times New Roman"/>
                <a:cs typeface="Times New Roman"/>
              </a:rPr>
              <a:t> </a:t>
            </a:r>
            <a:r>
              <a:rPr lang="en-US" sz="1400" b="1" dirty="0">
                <a:solidFill>
                  <a:srgbClr val="223844"/>
                </a:solidFill>
                <a:latin typeface="Times New Roman"/>
                <a:cs typeface="Times New Roman"/>
              </a:rPr>
              <a:t>AND</a:t>
            </a:r>
            <a:r>
              <a:rPr lang="en-US" sz="1400" b="1" spc="30" dirty="0">
                <a:solidFill>
                  <a:srgbClr val="223844"/>
                </a:solidFill>
                <a:latin typeface="Times New Roman"/>
                <a:cs typeface="Times New Roman"/>
              </a:rPr>
              <a:t> </a:t>
            </a:r>
            <a:r>
              <a:rPr lang="en-US" sz="1400" b="1" spc="-70" dirty="0">
                <a:solidFill>
                  <a:srgbClr val="223844"/>
                </a:solidFill>
                <a:latin typeface="Times New Roman"/>
                <a:cs typeface="Times New Roman"/>
              </a:rPr>
              <a:t>DATA</a:t>
            </a:r>
            <a:r>
              <a:rPr lang="en-US" sz="1400" b="1" spc="-50" dirty="0">
                <a:solidFill>
                  <a:srgbClr val="223844"/>
                </a:solidFill>
                <a:latin typeface="Times New Roman"/>
                <a:cs typeface="Times New Roman"/>
              </a:rPr>
              <a:t> </a:t>
            </a:r>
            <a:r>
              <a:rPr lang="en-US" sz="1400" b="1" spc="-10" dirty="0">
                <a:solidFill>
                  <a:srgbClr val="223844"/>
                </a:solidFill>
                <a:latin typeface="Times New Roman"/>
                <a:cs typeface="Times New Roman"/>
              </a:rPr>
              <a:t>SCIENCE</a:t>
            </a:r>
            <a:endParaRPr lang="en-US" sz="1400" dirty="0">
              <a:latin typeface="Times New Roman"/>
              <a:cs typeface="Times New Roman"/>
            </a:endParaRPr>
          </a:p>
          <a:p>
            <a:pPr marL="1534795" marR="1523365" indent="-1270" algn="ctr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Sem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VI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Academic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Year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2025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-</a:t>
            </a:r>
            <a:r>
              <a:rPr sz="1400" spc="-25" dirty="0">
                <a:latin typeface="Times New Roman"/>
                <a:cs typeface="Times New Roman"/>
              </a:rPr>
              <a:t>26 </a:t>
            </a:r>
            <a:r>
              <a:rPr sz="1400" dirty="0">
                <a:latin typeface="Times New Roman"/>
                <a:cs typeface="Times New Roman"/>
              </a:rPr>
              <a:t>Cloud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Computing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Project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Presentation</a:t>
            </a:r>
            <a:endParaRPr sz="1400" dirty="0">
              <a:latin typeface="Times New Roman"/>
              <a:cs typeface="Times New Roman"/>
            </a:endParaRPr>
          </a:p>
          <a:p>
            <a:pPr marR="129539" algn="ctr">
              <a:lnSpc>
                <a:spcPct val="100000"/>
              </a:lnSpc>
              <a:spcBef>
                <a:spcPts val="615"/>
              </a:spcBef>
            </a:pPr>
            <a:r>
              <a:rPr sz="1400" dirty="0">
                <a:latin typeface="Times New Roman"/>
                <a:cs typeface="Times New Roman"/>
              </a:rPr>
              <a:t>Project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Title:</a:t>
            </a:r>
            <a:r>
              <a:rPr lang="en-US" sz="1400" spc="-10" dirty="0">
                <a:latin typeface="Times New Roman"/>
                <a:cs typeface="Times New Roman"/>
              </a:rPr>
              <a:t>   </a:t>
            </a:r>
          </a:p>
          <a:p>
            <a:pPr marR="129539" algn="ctr">
              <a:lnSpc>
                <a:spcPct val="100000"/>
              </a:lnSpc>
              <a:spcBef>
                <a:spcPts val="615"/>
              </a:spcBef>
            </a:pPr>
            <a:r>
              <a:rPr lang="en-US" sz="1400" b="1" spc="-10" dirty="0" err="1">
                <a:latin typeface="Times New Roman"/>
                <a:cs typeface="Times New Roman"/>
              </a:rPr>
              <a:t>CloudNest</a:t>
            </a:r>
            <a:endParaRPr lang="en-IN" sz="1400" b="1" spc="-1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73670" y="4352163"/>
            <a:ext cx="15868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Prof.</a:t>
            </a:r>
            <a:r>
              <a:rPr sz="1400" b="1" spc="-7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Aruna</a:t>
            </a:r>
            <a:r>
              <a:rPr sz="1400" b="1" spc="1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Divekar</a:t>
            </a:r>
            <a:endParaRPr sz="1400" dirty="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Supervisor</a:t>
            </a:r>
            <a:endParaRPr sz="1400" dirty="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213360"/>
            <a:ext cx="1009649" cy="981074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9055358-E76E-3843-9EDA-D054CF0BCF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812220"/>
              </p:ext>
            </p:extLst>
          </p:nvPr>
        </p:nvGraphicFramePr>
        <p:xfrm>
          <a:off x="1723185" y="2742057"/>
          <a:ext cx="5690225" cy="15989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832100">
                  <a:extLst>
                    <a:ext uri="{9D8B030D-6E8A-4147-A177-3AD203B41FA5}">
                      <a16:colId xmlns:a16="http://schemas.microsoft.com/office/drawing/2014/main" val="1849674740"/>
                    </a:ext>
                  </a:extLst>
                </a:gridCol>
                <a:gridCol w="2858125">
                  <a:extLst>
                    <a:ext uri="{9D8B030D-6E8A-4147-A177-3AD203B41FA5}">
                      <a16:colId xmlns:a16="http://schemas.microsoft.com/office/drawing/2014/main" val="2694023065"/>
                    </a:ext>
                  </a:extLst>
                </a:gridCol>
              </a:tblGrid>
              <a:tr h="2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 panose="02020603050405020304"/>
                        <a:buNone/>
                      </a:pPr>
                      <a:r>
                        <a:rPr lang="en-US" sz="1000" b="1" u="none" strike="noStrike" cap="none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Students Name</a:t>
                      </a:r>
                      <a:endParaRPr sz="1000" b="1" u="none" strike="noStrike" cap="none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 panose="02020603050405020304"/>
                        <a:buNone/>
                      </a:pPr>
                      <a:r>
                        <a:rPr lang="en-US" sz="1000" b="1" u="none" strike="noStrike" cap="none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Roll No.</a:t>
                      </a:r>
                      <a:endParaRPr sz="1000" b="1" u="none" strike="noStrike" cap="none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229047918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0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Viraj </a:t>
                      </a:r>
                      <a:r>
                        <a:rPr lang="en-US" sz="1000" u="none" strike="noStrike" cap="none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Shirsekar</a:t>
                      </a:r>
                      <a:endParaRPr lang="en-US" sz="10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IN" sz="1000" u="none" strike="noStrike" cap="none" dirty="0"/>
                        <a:t>31</a:t>
                      </a:r>
                      <a:endParaRPr sz="10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3441169039"/>
                  </a:ext>
                </a:extLst>
              </a:tr>
              <a:tr h="266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IN" sz="10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Sumit Mane</a:t>
                      </a:r>
                      <a:endParaRPr sz="10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IN" sz="1000" u="none" strike="noStrike" cap="none" dirty="0"/>
                        <a:t>44</a:t>
                      </a:r>
                      <a:endParaRPr sz="10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2608271449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IN" sz="10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Vaibhavi Pawar</a:t>
                      </a:r>
                      <a:endParaRPr sz="10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IN" sz="1000" u="none" strike="noStrike" cap="none" dirty="0"/>
                        <a:t>48</a:t>
                      </a:r>
                      <a:endParaRPr lang="en-US" sz="10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44477130"/>
                  </a:ext>
                </a:extLst>
              </a:tr>
              <a:tr h="249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IN" sz="10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Vaishnavi </a:t>
                      </a:r>
                      <a:r>
                        <a:rPr lang="en-IN" sz="1000" u="none" strike="noStrike" cap="none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Mohe</a:t>
                      </a:r>
                      <a:endParaRPr lang="en-US" sz="10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IN" sz="1000" u="none" strike="noStrike" cap="none" dirty="0"/>
                        <a:t>51</a:t>
                      </a:r>
                      <a:endParaRPr lang="en-US" sz="10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61610138"/>
                  </a:ext>
                </a:extLst>
              </a:tr>
              <a:tr h="249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0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Mohammad Ibrahim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000" u="none" strike="noStrike" cap="none" dirty="0"/>
                        <a:t>52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5096579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5342" y="512064"/>
            <a:ext cx="14230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7875" y="938068"/>
            <a:ext cx="2575560" cy="226885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412115" indent="-399415">
              <a:lnSpc>
                <a:spcPct val="100000"/>
              </a:lnSpc>
              <a:spcBef>
                <a:spcPts val="885"/>
              </a:spcBef>
              <a:buFont typeface="Microsoft Sans Serif"/>
              <a:buChar char="□"/>
              <a:tabLst>
                <a:tab pos="412115" algn="l"/>
              </a:tabLst>
            </a:pPr>
            <a:r>
              <a:rPr sz="1800" spc="-10" dirty="0">
                <a:latin typeface="Times New Roman"/>
                <a:cs typeface="Times New Roman"/>
              </a:rPr>
              <a:t>Introduction</a:t>
            </a:r>
            <a:endParaRPr sz="1800">
              <a:latin typeface="Times New Roman"/>
              <a:cs typeface="Times New Roman"/>
            </a:endParaRPr>
          </a:p>
          <a:p>
            <a:pPr marL="412115" indent="-399415">
              <a:lnSpc>
                <a:spcPct val="100000"/>
              </a:lnSpc>
              <a:spcBef>
                <a:spcPts val="780"/>
              </a:spcBef>
              <a:buFont typeface="Microsoft Sans Serif"/>
              <a:buChar char="□"/>
              <a:tabLst>
                <a:tab pos="412115" algn="l"/>
              </a:tabLst>
            </a:pPr>
            <a:r>
              <a:rPr sz="1800" dirty="0">
                <a:latin typeface="Times New Roman"/>
                <a:cs typeface="Times New Roman"/>
              </a:rPr>
              <a:t>Problem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Statement</a:t>
            </a:r>
            <a:endParaRPr sz="1800">
              <a:latin typeface="Times New Roman"/>
              <a:cs typeface="Times New Roman"/>
            </a:endParaRPr>
          </a:p>
          <a:p>
            <a:pPr marL="412115" indent="-399415">
              <a:lnSpc>
                <a:spcPct val="100000"/>
              </a:lnSpc>
              <a:spcBef>
                <a:spcPts val="785"/>
              </a:spcBef>
              <a:buFont typeface="Microsoft Sans Serif"/>
              <a:buChar char="□"/>
              <a:tabLst>
                <a:tab pos="412115" algn="l"/>
              </a:tabLst>
            </a:pPr>
            <a:r>
              <a:rPr sz="1800" dirty="0">
                <a:latin typeface="Times New Roman"/>
                <a:cs typeface="Times New Roman"/>
              </a:rPr>
              <a:t>Software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Requirements</a:t>
            </a:r>
            <a:endParaRPr sz="1800">
              <a:latin typeface="Times New Roman"/>
              <a:cs typeface="Times New Roman"/>
            </a:endParaRPr>
          </a:p>
          <a:p>
            <a:pPr marL="412115" indent="-399415">
              <a:lnSpc>
                <a:spcPct val="100000"/>
              </a:lnSpc>
              <a:spcBef>
                <a:spcPts val="785"/>
              </a:spcBef>
              <a:buFont typeface="Microsoft Sans Serif"/>
              <a:buChar char="□"/>
              <a:tabLst>
                <a:tab pos="412115" algn="l"/>
              </a:tabLst>
            </a:pPr>
            <a:r>
              <a:rPr sz="1800" spc="-10" dirty="0">
                <a:latin typeface="Times New Roman"/>
                <a:cs typeface="Times New Roman"/>
              </a:rPr>
              <a:t>Methodology</a:t>
            </a:r>
            <a:endParaRPr sz="1800">
              <a:latin typeface="Times New Roman"/>
              <a:cs typeface="Times New Roman"/>
            </a:endParaRPr>
          </a:p>
          <a:p>
            <a:pPr marL="412115" indent="-399415">
              <a:lnSpc>
                <a:spcPct val="100000"/>
              </a:lnSpc>
              <a:spcBef>
                <a:spcPts val="785"/>
              </a:spcBef>
              <a:buFont typeface="Microsoft Sans Serif"/>
              <a:buChar char="□"/>
              <a:tabLst>
                <a:tab pos="412115" algn="l"/>
              </a:tabLst>
            </a:pPr>
            <a:r>
              <a:rPr sz="1800" spc="-10" dirty="0">
                <a:latin typeface="Times New Roman"/>
                <a:cs typeface="Times New Roman"/>
              </a:rPr>
              <a:t>Result</a:t>
            </a:r>
            <a:endParaRPr sz="1800">
              <a:latin typeface="Times New Roman"/>
              <a:cs typeface="Times New Roman"/>
            </a:endParaRPr>
          </a:p>
          <a:p>
            <a:pPr marL="412115" indent="-399415">
              <a:lnSpc>
                <a:spcPct val="100000"/>
              </a:lnSpc>
              <a:spcBef>
                <a:spcPts val="780"/>
              </a:spcBef>
              <a:buFont typeface="Microsoft Sans Serif"/>
              <a:buChar char="□"/>
              <a:tabLst>
                <a:tab pos="412115" algn="l"/>
              </a:tabLst>
            </a:pPr>
            <a:r>
              <a:rPr sz="1800" spc="-10" dirty="0">
                <a:latin typeface="Times New Roman"/>
                <a:cs typeface="Times New Roman"/>
              </a:rPr>
              <a:t>Conclusion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8155" rIns="0" bIns="0" rtlCol="0">
            <a:spAutoFit/>
          </a:bodyPr>
          <a:lstStyle/>
          <a:p>
            <a:pPr marL="514984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76D456-0EA6-B51B-0D67-3938A8962E29}"/>
              </a:ext>
            </a:extLst>
          </p:cNvPr>
          <p:cNvSpPr txBox="1"/>
          <p:nvPr/>
        </p:nvSpPr>
        <p:spPr>
          <a:xfrm>
            <a:off x="990600" y="1276350"/>
            <a:ext cx="7315200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/>
              <a:t>CloudNest</a:t>
            </a:r>
            <a:r>
              <a:rPr lang="en-US" dirty="0"/>
              <a:t> is a cloud-based project that demonstrates modern web hosting using serverless architecture.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It eliminates the need for physical servers by using AWS services like S3 and CloudFront.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 The system ensures high scalability, low latency, and global accessibility.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 It provides a fast, secure, and cost-efficient solution for hosting static websites.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Eliminates the need for manual server management and maintenance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3161" rIns="0" bIns="0" rtlCol="0">
            <a:spAutoFit/>
          </a:bodyPr>
          <a:lstStyle/>
          <a:p>
            <a:pPr marL="47180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PROBLEM</a:t>
            </a:r>
            <a:r>
              <a:rPr spc="-70" dirty="0"/>
              <a:t> </a:t>
            </a:r>
            <a:r>
              <a:rPr spc="-25" dirty="0"/>
              <a:t>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6CE121-6597-284F-29EF-7B496E4AFE77}"/>
              </a:ext>
            </a:extLst>
          </p:cNvPr>
          <p:cNvSpPr txBox="1"/>
          <p:nvPr/>
        </p:nvSpPr>
        <p:spPr>
          <a:xfrm>
            <a:off x="990600" y="1279552"/>
            <a:ext cx="67056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Traditional web hosting relies on physical servers, which require high maintenance and cost.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These systems face issues like downtime, limited scalability, and high latency for distant users.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There is a need for a reliable and automated solution. </a:t>
            </a:r>
            <a:r>
              <a:rPr lang="en-US" dirty="0" err="1"/>
              <a:t>CloudNest</a:t>
            </a:r>
            <a:r>
              <a:rPr lang="en-US" dirty="0"/>
              <a:t> solves this by using cloud technologies to provide scalable, secure, and globally accessible hosting.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Lack of centralized monitoring and performance tracking in traditional systems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Difficulty in ensuring data security and secure communication (HTTPS)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5125" rIns="0" bIns="0" rtlCol="0">
            <a:spAutoFit/>
          </a:bodyPr>
          <a:lstStyle/>
          <a:p>
            <a:pPr marL="22034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SOFTWARE</a:t>
            </a:r>
            <a:r>
              <a:rPr spc="-50" dirty="0"/>
              <a:t> </a:t>
            </a:r>
            <a:r>
              <a:rPr spc="-10" dirty="0"/>
              <a:t>REQUIREMENTS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B5B9CD-9302-58EF-5CD4-97F95328E6AD}"/>
              </a:ext>
            </a:extLst>
          </p:cNvPr>
          <p:cNvSpPr txBox="1"/>
          <p:nvPr/>
        </p:nvSpPr>
        <p:spPr>
          <a:xfrm>
            <a:off x="609600" y="1043812"/>
            <a:ext cx="809499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/>
              <a:t>Frontend:</a:t>
            </a:r>
          </a:p>
          <a:p>
            <a:r>
              <a:rPr lang="en-IN" dirty="0"/>
              <a:t>HTML5, CSS3, JavaScript for responsive and interactive UI.</a:t>
            </a:r>
          </a:p>
          <a:p>
            <a:r>
              <a:rPr lang="en-IN" b="1" u="sng" dirty="0"/>
              <a:t>Backend:</a:t>
            </a:r>
          </a:p>
          <a:p>
            <a:r>
              <a:rPr lang="en-IN" dirty="0"/>
              <a:t>Amazon S3 for static website hosting.</a:t>
            </a:r>
          </a:p>
          <a:p>
            <a:r>
              <a:rPr lang="en-IN" b="1" u="sng" dirty="0"/>
              <a:t>Content Delivery:</a:t>
            </a:r>
          </a:p>
          <a:p>
            <a:r>
              <a:rPr lang="en-IN" dirty="0"/>
              <a:t>Amazon CloudFront for fast global content delivery.</a:t>
            </a:r>
          </a:p>
          <a:p>
            <a:r>
              <a:rPr lang="en-IN" b="1" u="sng" dirty="0"/>
              <a:t>DNS &amp; Security:</a:t>
            </a:r>
          </a:p>
          <a:p>
            <a:r>
              <a:rPr lang="en-IN" dirty="0"/>
              <a:t>Amazon Route 53 for DNS management and AWS Certificate Manager for HTTPS security.</a:t>
            </a:r>
          </a:p>
          <a:p>
            <a:r>
              <a:rPr lang="en-IN" b="1" u="sng" dirty="0"/>
              <a:t>Monitoring:</a:t>
            </a:r>
          </a:p>
          <a:p>
            <a:r>
              <a:rPr lang="en-IN" dirty="0"/>
              <a:t>Amazon CloudWatch for performance tracking.</a:t>
            </a:r>
          </a:p>
          <a:p>
            <a:r>
              <a:rPr lang="en-IN" b="1" u="sng" dirty="0"/>
              <a:t>Infrastructure: </a:t>
            </a:r>
          </a:p>
          <a:p>
            <a:r>
              <a:rPr lang="en-IN" dirty="0"/>
              <a:t>Serverless cloud environment with low cost and auto scaling.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090" y="241115"/>
            <a:ext cx="21278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METHODOLOGY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64D3FC7-AF85-D549-5777-C999FA271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1" y="493403"/>
            <a:ext cx="8382000" cy="4301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35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 Analysis</a:t>
            </a:r>
            <a:b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Defined project objectives for a scalable, secure, and cost-effective static website using serverless architecture. 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Design</a:t>
            </a:r>
            <a:b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architecture integrating storage, CDN, DNS, and security layers to ensure high availability and low latency. 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Development</a:t>
            </a:r>
            <a:b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responsive UI using HTML5, CSS3, and JavaScript with optimized assets for performance. 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Setup</a:t>
            </a:r>
            <a:b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Configured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Amazon Web Services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created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Amazon S3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bucket, and hosted static website files. 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 Delivery</a:t>
            </a:r>
            <a:b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Amazon CloudFront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enable fast global content distribution with caching. 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Domain &amp; Security</a:t>
            </a:r>
            <a:b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Configured domain using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Amazon Route 53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enabled HTTPS via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AWS Certificate Manager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Monitoring</a:t>
            </a:r>
            <a:b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Amazon CloudWatch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performance tracking and logging. 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 &amp; Deployment</a:t>
            </a:r>
            <a:b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Conducted functional and performance testing, then deployed globally using S3 and CloudFront. 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Maintenance</a:t>
            </a:r>
            <a:b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Continuously monitored, optimized performance, and updated content with minimal cost and no downtime.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RESULT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77D443-FD43-8E46-713B-2DDF34D76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866" y="1059814"/>
            <a:ext cx="6946265" cy="3327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DA276E4-45D0-E6ED-6B3C-F3A09CEC3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37" y="946150"/>
            <a:ext cx="6918325" cy="3251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244B12-4A5C-5B55-4E21-814B5EAD7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37" y="946150"/>
            <a:ext cx="6918325" cy="3251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4025" y="453390"/>
            <a:ext cx="17468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22527" y="1023885"/>
            <a:ext cx="8075930" cy="3062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8145" marR="5080" indent="-38608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98145" algn="l"/>
                <a:tab pos="1579245" algn="l"/>
                <a:tab pos="2095500" algn="l"/>
                <a:tab pos="3226435" algn="l"/>
                <a:tab pos="3872865" algn="l"/>
                <a:tab pos="5284470" algn="l"/>
                <a:tab pos="6449695" algn="l"/>
                <a:tab pos="7023734" algn="l"/>
              </a:tabLst>
            </a:pPr>
            <a:r>
              <a:rPr lang="en-US" dirty="0"/>
              <a:t>T</a:t>
            </a:r>
            <a:r>
              <a:rPr lang="en-US" sz="1600" dirty="0"/>
              <a:t>he </a:t>
            </a:r>
            <a:r>
              <a:rPr lang="en-US" sz="1600" dirty="0" err="1"/>
              <a:t>CloudNest</a:t>
            </a:r>
            <a:r>
              <a:rPr lang="en-US" sz="1600" dirty="0"/>
              <a:t> project successfully demonstrates the power and efficiency of a serverless, cloud-native approach to web hosting. By integrating core AWS services such as Amazon S3 for storage and Amazon CloudFront for global content delivery, the system provides a </a:t>
            </a:r>
            <a:r>
              <a:rPr lang="en-US" sz="1600" dirty="0" err="1"/>
              <a:t>highperformance</a:t>
            </a:r>
            <a:r>
              <a:rPr lang="en-US" sz="1600" dirty="0"/>
              <a:t> platform that ensures sub-50ms latency and 99.99% uptime. The transition from traditional server-based hosting to a cloud-based infrastructure significantly reduces manual maintenance, lowers operational costs, and eliminates hardware-related bottlenecks.</a:t>
            </a:r>
          </a:p>
          <a:p>
            <a:pPr marL="12065" marR="5080">
              <a:lnSpc>
                <a:spcPct val="100000"/>
              </a:lnSpc>
              <a:spcBef>
                <a:spcPts val="100"/>
              </a:spcBef>
              <a:tabLst>
                <a:tab pos="398145" algn="l"/>
                <a:tab pos="1579245" algn="l"/>
                <a:tab pos="2095500" algn="l"/>
                <a:tab pos="3226435" algn="l"/>
                <a:tab pos="3872865" algn="l"/>
                <a:tab pos="5284470" algn="l"/>
                <a:tab pos="6449695" algn="l"/>
                <a:tab pos="7023734" algn="l"/>
              </a:tabLst>
            </a:pPr>
            <a:endParaRPr lang="en-US" sz="1600" dirty="0"/>
          </a:p>
          <a:p>
            <a:pPr marL="398145" marR="5080" indent="-386080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398145" algn="l"/>
                <a:tab pos="1579245" algn="l"/>
                <a:tab pos="2095500" algn="l"/>
                <a:tab pos="3226435" algn="l"/>
                <a:tab pos="3872865" algn="l"/>
                <a:tab pos="5284470" algn="l"/>
                <a:tab pos="6449695" algn="l"/>
                <a:tab pos="7023734" algn="l"/>
              </a:tabLst>
            </a:pPr>
            <a:r>
              <a:rPr lang="en-US" sz="1600" dirty="0"/>
              <a:t>The project also emphasizes security, reliability, and ease of use. Firebase Authentication ensures secure user access, while role-based control and a user-friendly interface enhance the overall experience. By providing a digital platform for complaint management, the system reduces manual effort and improves accountability. With further enhancements, the system can evolve into a more advanced and scalable solution for real-world applications. </a:t>
            </a:r>
            <a:endParaRPr sz="1600" spc="-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4401" y="1882393"/>
            <a:ext cx="34931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0" spc="-10" dirty="0">
                <a:solidFill>
                  <a:srgbClr val="B45F05"/>
                </a:solidFill>
                <a:latin typeface="Times New Roman"/>
                <a:cs typeface="Times New Roman"/>
              </a:rPr>
              <a:t>Thank</a:t>
            </a:r>
            <a:r>
              <a:rPr sz="5400" b="0" spc="-290" dirty="0">
                <a:solidFill>
                  <a:srgbClr val="B45F05"/>
                </a:solidFill>
                <a:latin typeface="Times New Roman"/>
                <a:cs typeface="Times New Roman"/>
              </a:rPr>
              <a:t> </a:t>
            </a:r>
            <a:r>
              <a:rPr sz="5400" b="0" spc="-515" dirty="0">
                <a:solidFill>
                  <a:srgbClr val="B45F05"/>
                </a:solidFill>
                <a:latin typeface="Times New Roman"/>
                <a:cs typeface="Times New Roman"/>
              </a:rPr>
              <a:t>Y</a:t>
            </a:r>
            <a:r>
              <a:rPr sz="5400" b="0" spc="30" dirty="0">
                <a:solidFill>
                  <a:srgbClr val="B45F05"/>
                </a:solidFill>
                <a:latin typeface="Times New Roman"/>
                <a:cs typeface="Times New Roman"/>
              </a:rPr>
              <a:t>ou!!</a:t>
            </a:r>
            <a:endParaRPr sz="5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</TotalTime>
  <Words>610</Words>
  <Application>Microsoft Office PowerPoint</Application>
  <PresentationFormat>On-screen Show (16:9)</PresentationFormat>
  <Paragraphs>71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Microsoft Sans Serif</vt:lpstr>
      <vt:lpstr>Times New Roman</vt:lpstr>
      <vt:lpstr>Office Theme</vt:lpstr>
      <vt:lpstr>Nagar Yuwak Shikshan Sanstha’s DATTA MEGHE COLLEGE OF ENGINEERING</vt:lpstr>
      <vt:lpstr>CONTENTS</vt:lpstr>
      <vt:lpstr>INTRODUCTION</vt:lpstr>
      <vt:lpstr>PROBLEM STATEMENT</vt:lpstr>
      <vt:lpstr>SOFTWARE REQUIREMENTS</vt:lpstr>
      <vt:lpstr>METHODOLOGY</vt:lpstr>
      <vt:lpstr>RESULT</vt:lpstr>
      <vt:lpstr>PowerPoint Presentation</vt:lpstr>
      <vt:lpstr>PowerPoint Presentation</vt:lpstr>
      <vt:lpstr>CONCLUSION</vt:lpstr>
      <vt:lpstr>Thank You!!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SCS PPT.pptx</dc:title>
  <dc:creator>SUMIT MANE</dc:creator>
  <cp:lastModifiedBy>Harshal patond</cp:lastModifiedBy>
  <cp:revision>6</cp:revision>
  <dcterms:created xsi:type="dcterms:W3CDTF">2026-03-30T14:37:44Z</dcterms:created>
  <dcterms:modified xsi:type="dcterms:W3CDTF">2026-03-31T19:02:15Z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2026-03-30T00:00:00Z</vt:filetime>
  </property>
  <property fmtid="{D5CDD505-2E9C-101B-9397-08002B2CF9AE}" pid="3" name="Creator">
    <vt:lpwstr>Google</vt:lpwstr>
  </property>
  <property fmtid="{D5CDD505-2E9C-101B-9397-08002B2CF9AE}" pid="4" name="LastSaved">
    <vt:filetime>2026-03-30T00:00:00Z</vt:filetime>
  </property>
</Properties>
</file>